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IITM BS Workshop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869680" y="64739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Harnessing LLMs with Python</a:t>
            </a:r>
            <a:endParaRPr lang="en-US" sz="9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640080"/>
            <a:ext cx="3749040" cy="3749040"/>
          </a:xfrm>
          <a:prstGeom prst="arc">
            <a:avLst/>
          </a:prstGeom>
          <a:solidFill>
            <a:srgbClr val="0B1F3A">
              <a:alpha val="0"/>
            </a:srgbClr>
          </a:solidFill>
          <a:ln w="12700">
            <a:solidFill>
              <a:srgbClr val="2F6BFF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83880" y="1051560"/>
            <a:ext cx="2880360" cy="2880360"/>
          </a:xfrm>
          <a:prstGeom prst="arc">
            <a:avLst/>
          </a:prstGeom>
          <a:solidFill>
            <a:srgbClr val="0B1F3A">
              <a:alpha val="0"/>
            </a:srgbClr>
          </a:solidFill>
          <a:ln w="12700">
            <a:solidFill>
              <a:srgbClr val="18B7FF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1417320"/>
            <a:ext cx="2148840" cy="2148840"/>
          </a:xfrm>
          <a:prstGeom prst="arc">
            <a:avLst/>
          </a:prstGeom>
          <a:solidFill>
            <a:srgbClr val="0B1F3A">
              <a:alpha val="0"/>
            </a:srgbClr>
          </a:solidFill>
          <a:ln w="12700">
            <a:solidFill>
              <a:srgbClr val="9D7CFF">
                <a:alpha val="8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41080" y="1600200"/>
            <a:ext cx="1965960" cy="1965960"/>
          </a:xfrm>
          <a:prstGeom prst="ellipse">
            <a:avLst/>
          </a:prstGeom>
          <a:solidFill>
            <a:srgbClr val="10284D">
              <a:alpha val="90000"/>
            </a:srgbClr>
          </a:solidFill>
          <a:ln w="12700">
            <a:solidFill>
              <a:srgbClr val="2556F5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Harnessing LLMs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Python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13232" y="25420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E4FF"/>
                </a:solidFill>
              </a:rPr>
              <a:t>IITM BS students • Bhubaneswar session • mixed-skill, build-first workshop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090672"/>
            <a:ext cx="1097280" cy="301752"/>
          </a:xfrm>
          <a:prstGeom prst="rect">
            <a:avLst/>
          </a:prstGeom>
          <a:solidFill>
            <a:srgbClr val="2457F5"/>
          </a:solidFill>
          <a:ln>
            <a:solidFill>
              <a:srgbClr val="2457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3090672"/>
            <a:ext cx="1216152" cy="301752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Structure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3090672"/>
            <a:ext cx="1005840" cy="3017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3090672"/>
            <a:ext cx="868680" cy="3017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4846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Outcome: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students leave with a working repo, a grounded case-study pipeline, and a clear mental model of when LLMs help - and when they fail.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5486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2D5"/>
                </a:solidFill>
              </a:rPr>
              <a:t>Tomorrow morning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5486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2D5"/>
                </a:solidFill>
              </a:rPr>
              <a:t>15-20 students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0" y="5486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B2D5"/>
                </a:solidFill>
              </a:rPr>
              <a:t>Fictional support-copilot case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79408" y="2331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D8FF"/>
                </a:solidFill>
              </a:rPr>
              <a:t>prompt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25128" y="2651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C7FF"/>
                </a:solidFill>
              </a:rPr>
              <a:t>context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52560" y="29718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DE3FF"/>
                </a:solidFill>
              </a:rPr>
              <a:t>output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should leave with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workshop is successful when they can explain, not just imitate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6576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109728" cy="1874520"/>
          </a:xfrm>
          <a:prstGeom prst="rect">
            <a:avLst/>
          </a:prstGeom>
          <a:solidFill>
            <a:srgbClr val="2457F5"/>
          </a:solidFill>
          <a:ln w="12700">
            <a:solidFill>
              <a:srgbClr val="245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81912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929384"/>
            <a:ext cx="325526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Make one successful model call, then turn it into a useful mini pipeline: prompt -&gt; JSON -&gt; retrieval -&gt; drafted response.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98848" y="141732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98848" y="1417320"/>
            <a:ext cx="109728" cy="18745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81912"/>
            <a:ext cx="2935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Understand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929384"/>
            <a:ext cx="293522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Know tokens, temperature, context window, hallucinations, and why RAG is different from chat memory.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417320"/>
            <a:ext cx="109728" cy="1874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81912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Judge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02752" y="1929384"/>
            <a:ext cx="3118104" cy="1252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See that a polished answer is not enough. They should ask: is it grounded, safe, parseable, and useful?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Suggested rhythm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4846320"/>
            <a:ext cx="10058400" cy="0"/>
          </a:xfrm>
          <a:prstGeom prst="line">
            <a:avLst/>
          </a:prstGeom>
          <a:noFill/>
          <a:ln w="12700">
            <a:solidFill>
              <a:srgbClr val="AFC0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4626864"/>
            <a:ext cx="420624" cy="420624"/>
          </a:xfrm>
          <a:prstGeom prst="ellipse">
            <a:avLst/>
          </a:prstGeom>
          <a:solidFill>
            <a:srgbClr val="245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6908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51480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Demo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544068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Show one strong use case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that feels magical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4626864"/>
            <a:ext cx="420624" cy="420624"/>
          </a:xfrm>
          <a:prstGeom prst="ellipse">
            <a:avLst/>
          </a:prstGeom>
          <a:solidFill>
            <a:srgbClr val="245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46908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81528" y="51480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Explain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43200" y="544068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LLM mental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without heavy math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94960" y="4626864"/>
            <a:ext cx="420624" cy="420624"/>
          </a:xfrm>
          <a:prstGeom prst="ellipse">
            <a:avLst/>
          </a:prstGeom>
          <a:solidFill>
            <a:srgbClr val="245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46908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51480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Code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92040" y="544068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Run the examples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with minimal setup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543800" y="4626864"/>
            <a:ext cx="420624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46908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79208" y="51480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Practice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40880" y="544068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Build the case study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in small teams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692640" y="4626864"/>
            <a:ext cx="420624" cy="420624"/>
          </a:xfrm>
          <a:prstGeom prst="ellipse">
            <a:avLst/>
          </a:prstGeom>
          <a:solidFill>
            <a:srgbClr val="2457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0" y="469087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528048" y="51480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Reflect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9189720" y="5440680"/>
            <a:ext cx="14447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Discuss failures, trade-offs,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and next steps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mental model of an LLM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database. Not reasoning magic. A probabilistic text engine guided by context.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999232" y="2560320"/>
            <a:ext cx="438912" cy="502920"/>
          </a:xfrm>
          <a:prstGeom prst="chevron">
            <a:avLst/>
          </a:prstGeom>
          <a:solidFill>
            <a:srgbClr val="BFD0FF"/>
          </a:solidFill>
          <a:ln w="12700">
            <a:solidFill>
              <a:srgbClr val="BFD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71616" y="2560320"/>
            <a:ext cx="438912" cy="502920"/>
          </a:xfrm>
          <a:prstGeom prst="chevron">
            <a:avLst/>
          </a:prstGeom>
          <a:solidFill>
            <a:srgbClr val="BFD0FF"/>
          </a:solidFill>
          <a:ln w="12700">
            <a:solidFill>
              <a:srgbClr val="BFD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2560320"/>
            <a:ext cx="347472" cy="502920"/>
          </a:xfrm>
          <a:prstGeom prst="chevron">
            <a:avLst/>
          </a:prstGeom>
          <a:solidFill>
            <a:srgbClr val="BFD0FF"/>
          </a:solidFill>
          <a:ln w="12700">
            <a:solidFill>
              <a:srgbClr val="B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920240"/>
            <a:ext cx="21945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920240"/>
            <a:ext cx="109728" cy="1645920"/>
          </a:xfrm>
          <a:prstGeom prst="rect">
            <a:avLst/>
          </a:prstGeom>
          <a:solidFill>
            <a:srgbClr val="2457F5"/>
          </a:solidFill>
          <a:ln w="12700">
            <a:solidFill>
              <a:srgbClr val="245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8483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1. Prompt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32304"/>
            <a:ext cx="1792224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Task, audience, constraints, examples, tone.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21608" y="1920240"/>
            <a:ext cx="21945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1608" y="1920240"/>
            <a:ext cx="109728" cy="1645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08483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2. Context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2432304"/>
            <a:ext cx="1792224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History, retrieved text, instructions, tool outputs.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12280" y="1920240"/>
            <a:ext cx="21945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920240"/>
            <a:ext cx="109728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68312" y="208483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3.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68312" y="2432304"/>
            <a:ext cx="1792224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Chooses likely next tokens using patterns learned from training.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93808" y="192024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93808" y="1920240"/>
            <a:ext cx="109728" cy="1645920"/>
          </a:xfrm>
          <a:prstGeom prst="rect">
            <a:avLst/>
          </a:prstGeom>
          <a:solidFill>
            <a:srgbClr val="17B26A"/>
          </a:solidFill>
          <a:ln w="12700">
            <a:solidFill>
              <a:srgbClr val="17B2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2084832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4. Output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49840" y="2432304"/>
            <a:ext cx="1243584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Text, code, JSON, plans, drafts.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" y="41605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Under the hood, three controls matter most for this workshop: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6656" y="4572000"/>
            <a:ext cx="1444752" cy="301752"/>
          </a:xfrm>
          <a:prstGeom prst="rect">
            <a:avLst/>
          </a:prstGeom>
          <a:solidFill>
            <a:srgbClr val="EAF0FF"/>
          </a:solidFill>
          <a:ln>
            <a:solidFill>
              <a:srgbClr val="EA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Tokens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956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How input/output length is measured.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98064" y="4572000"/>
            <a:ext cx="1874520" cy="301752"/>
          </a:xfrm>
          <a:prstGeom prst="rect">
            <a:avLst/>
          </a:prstGeom>
          <a:solidFill>
            <a:srgbClr val="D9F4FF"/>
          </a:solidFill>
          <a:ln>
            <a:solidFill>
              <a:srgbClr val="D9F4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Context window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80360" y="4956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How much conversation and source text fits.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4572000"/>
            <a:ext cx="1737360" cy="301752"/>
          </a:xfrm>
          <a:prstGeom prst="rect">
            <a:avLst/>
          </a:prstGeom>
          <a:solidFill>
            <a:srgbClr val="EEE7FF"/>
          </a:solidFill>
          <a:ln>
            <a:solidFill>
              <a:srgbClr val="EEE7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Temperature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05856" y="49560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Lower = steadier; higher = more varied.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65008" y="4315968"/>
            <a:ext cx="3291840" cy="987552"/>
          </a:xfrm>
          <a:prstGeom prst="roundRect">
            <a:avLst>
              <a:gd name="adj" fmla="val 9259"/>
            </a:avLst>
          </a:prstGeom>
          <a:solidFill>
            <a:srgbClr val="F6F9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11312" y="4443984"/>
            <a:ext cx="28346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Teaching line to say aloud: “LLMs are most useful when you shape the input and verify the output.”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One-session Python build ideas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 should feel tangible before they feel theoretical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463040"/>
            <a:ext cx="109728" cy="1417320"/>
          </a:xfrm>
          <a:prstGeom prst="rect">
            <a:avLst/>
          </a:prstGeom>
          <a:solidFill>
            <a:srgbClr val="2457F5"/>
          </a:solidFill>
          <a:ln w="12700">
            <a:solidFill>
              <a:srgbClr val="245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Summarize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975104"/>
            <a:ext cx="215798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Reduce long text into bullet points or study notes.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" y="310896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3108960"/>
            <a:ext cx="109728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7355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Extract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621024"/>
            <a:ext cx="215798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Turn raw text into JSON fields your code can use.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4754880"/>
            <a:ext cx="25603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4754880"/>
            <a:ext cx="10972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91947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Retrieve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266944"/>
            <a:ext cx="2157984" cy="795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Answer from a handbook or PDF instead of guesswork.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0" y="1417320"/>
            <a:ext cx="7818120" cy="5166360"/>
          </a:xfrm>
          <a:prstGeom prst="roundRect">
            <a:avLst>
              <a:gd name="adj" fmla="val 212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719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DFF"/>
                </a:solidFill>
              </a:rPr>
              <a:t>Same API shape, different jobs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2121408"/>
            <a:ext cx="681228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model=MODEL,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"system", "content": "You are a helpful tutor."},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prompt}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print(response.choices[0].message.content)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86784" y="5687568"/>
            <a:ext cx="1645920" cy="301752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Change the prompt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5687568"/>
            <a:ext cx="1828800" cy="301752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Maybe change the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27264" y="5687568"/>
            <a:ext cx="2560320" cy="301752"/>
          </a:xfrm>
          <a:prstGeom prst="rect">
            <a:avLst/>
          </a:prstGeom>
          <a:solidFill>
            <a:srgbClr val="16233A"/>
          </a:solidFill>
          <a:ln>
            <a:solidFill>
              <a:srgbClr val="162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Sometimes add retrieved context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68496" y="614476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7CF"/>
                </a:solidFill>
              </a:rPr>
              <a:t>This helps students see reuse early: one interface, many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models, one decision lens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model choice around quality, latency, cost, and constraints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5440680"/>
            <a:ext cx="43891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5440680"/>
            <a:ext cx="0" cy="-3520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5486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cost / latency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 rot="16200000">
            <a:off x="402336" y="17007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reasoning / quality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20240" y="4434840"/>
            <a:ext cx="960120" cy="530352"/>
          </a:xfrm>
          <a:prstGeom prst="ellipse">
            <a:avLst/>
          </a:prstGeom>
          <a:solidFill>
            <a:srgbClr val="DCE8FF"/>
          </a:solidFill>
          <a:ln w="12700">
            <a:solidFill>
              <a:srgbClr val="9BB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459943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small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3611880"/>
            <a:ext cx="1143000" cy="640080"/>
          </a:xfrm>
          <a:prstGeom prst="ellipse">
            <a:avLst/>
          </a:prstGeom>
          <a:solidFill>
            <a:srgbClr val="BDEFFF"/>
          </a:solidFill>
          <a:ln w="12700">
            <a:solidFill>
              <a:srgbClr val="74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380390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balanced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606040"/>
            <a:ext cx="1325880" cy="749808"/>
          </a:xfrm>
          <a:prstGeom prst="ellipse">
            <a:avLst/>
          </a:prstGeom>
          <a:solidFill>
            <a:srgbClr val="E8DDFF"/>
          </a:solidFill>
          <a:ln w="12700">
            <a:solidFill>
              <a:srgbClr val="C4A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8437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frontier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58978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Explain the trade-off, not the model list.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46520" y="1463040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1463040"/>
            <a:ext cx="109728" cy="1170432"/>
          </a:xfrm>
          <a:prstGeom prst="rect">
            <a:avLst/>
          </a:prstGeom>
          <a:solidFill>
            <a:srgbClr val="2457F5"/>
          </a:solidFill>
          <a:ln w="12700">
            <a:solidFill>
              <a:srgbClr val="245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1627632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For beginners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02552" y="1975104"/>
            <a:ext cx="476402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Use one dependable model first. The goal is learning the workflow, not benchmarking every SKU.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2761488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2761488"/>
            <a:ext cx="109728" cy="11704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2926080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For intermediates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02552" y="3273552"/>
            <a:ext cx="476402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Let them compare two models on the same prompt and judge clarity, format-following, and groundedness.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46520" y="4059936"/>
            <a:ext cx="5166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46520" y="4059936"/>
            <a:ext cx="109728" cy="11704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02552" y="4224528"/>
            <a:ext cx="4764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For the facilitator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02552" y="4572000"/>
            <a:ext cx="4764024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Say “different models are different operating points” - not “one is best at everything.”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 walkthrough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code path linear so nobody gets lost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4114800" cy="4846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373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21f1001035/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148840"/>
            <a:ext cx="3154680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01_basic_prompting.py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02_prompt_patterns.py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03_structured_output.py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04_model_compare.py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05_chat_memory.py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06_rag_simple.py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07_case_study_support_copilot.py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workshop_client.py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rag_utils.py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case_study/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833872"/>
            <a:ext cx="1417320" cy="301752"/>
          </a:xfrm>
          <a:prstGeom prst="rect">
            <a:avLst/>
          </a:prstGeom>
          <a:solidFill>
            <a:srgbClr val="EAF0FF"/>
          </a:solidFill>
          <a:ln>
            <a:solidFill>
              <a:srgbClr val="EA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linear flow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87168" y="5833872"/>
            <a:ext cx="1234440" cy="301752"/>
          </a:xfrm>
          <a:prstGeom prst="rect">
            <a:avLst/>
          </a:prstGeom>
          <a:solidFill>
            <a:srgbClr val="D9F4FF"/>
          </a:solidFill>
          <a:ln>
            <a:solidFill>
              <a:srgbClr val="D9F4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small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20640" y="1417320"/>
            <a:ext cx="6172200" cy="4846320"/>
          </a:xfrm>
          <a:prstGeom prst="roundRect">
            <a:avLst>
              <a:gd name="adj" fmla="val 226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DFF"/>
                </a:solidFill>
              </a:rPr>
              <a:t>Key abstraction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49824" y="2039112"/>
            <a:ext cx="52120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ask_llm(messages, model=MODEL, temperature=0.2):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client.chat.completions.create(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model=model,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temperature=temperature,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messages=messages,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response.choices[0].message.content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helper, reused everywhere.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13248" y="4233672"/>
            <a:ext cx="265176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13248" y="4233672"/>
            <a:ext cx="109728" cy="1444752"/>
          </a:xfrm>
          <a:prstGeom prst="rect">
            <a:avLst/>
          </a:prstGeom>
          <a:solidFill>
            <a:srgbClr val="2457F5"/>
          </a:solidFill>
          <a:ln w="12700">
            <a:solidFill>
              <a:srgbClr val="245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439826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Why this matters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4745736"/>
            <a:ext cx="2249424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Beginners see repetition; intermediates see reuse and refactoring.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83880" y="4233672"/>
            <a:ext cx="265176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4233672"/>
            <a:ext cx="109728" cy="14447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9912" y="4398264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Teaching tip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9912" y="4745736"/>
            <a:ext cx="2249424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Open the repo tree first, then run scripts in order. It lowers anxiety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study: Student Support Copilot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enough for one workshop. Rich enough to introduce grounding, escalation, and evaluation.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61488" y="2761488"/>
            <a:ext cx="347472" cy="548640"/>
          </a:xfrm>
          <a:prstGeom prst="chevron">
            <a:avLst/>
          </a:prstGeom>
          <a:solidFill>
            <a:srgbClr val="C5D5FF"/>
          </a:solidFill>
          <a:ln w="12700">
            <a:solidFill>
              <a:srgbClr val="C5D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0" y="2761488"/>
            <a:ext cx="347472" cy="548640"/>
          </a:xfrm>
          <a:prstGeom prst="chevron">
            <a:avLst/>
          </a:prstGeom>
          <a:solidFill>
            <a:srgbClr val="C5D5FF"/>
          </a:solidFill>
          <a:ln w="12700">
            <a:solidFill>
              <a:srgbClr val="C5D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59952" y="2761488"/>
            <a:ext cx="292608" cy="548640"/>
          </a:xfrm>
          <a:prstGeom prst="chevron">
            <a:avLst/>
          </a:prstGeom>
          <a:solidFill>
            <a:srgbClr val="C5D5FF"/>
          </a:solidFill>
          <a:ln w="12700">
            <a:solidFill>
              <a:srgbClr val="C5D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11680"/>
            <a:ext cx="109728" cy="1828800"/>
          </a:xfrm>
          <a:prstGeom prst="rect">
            <a:avLst/>
          </a:prstGeom>
          <a:solidFill>
            <a:srgbClr val="2457F5"/>
          </a:solidFill>
          <a:ln w="12700">
            <a:solidFill>
              <a:srgbClr val="245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1762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Input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2523744"/>
            <a:ext cx="1609344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12 student tickets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+ a fictional program handbook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18688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2011680"/>
            <a:ext cx="109728" cy="1828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1762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Retrieve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523744"/>
            <a:ext cx="1609344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Find the most relevant policy chunks before answering.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01168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011680"/>
            <a:ext cx="109728" cy="1828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176272"/>
            <a:ext cx="1609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Decide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3952" y="2523744"/>
            <a:ext cx="1609344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Category, priority, human review, policy basis.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17152" y="201168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17152" y="2011680"/>
            <a:ext cx="109728" cy="1828800"/>
          </a:xfrm>
          <a:prstGeom prst="rect">
            <a:avLst/>
          </a:prstGeom>
          <a:solidFill>
            <a:srgbClr val="17B26A"/>
          </a:solidFill>
          <a:ln w="12700">
            <a:solidFill>
              <a:srgbClr val="17B2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73184" y="217627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Respond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73184" y="2523744"/>
            <a:ext cx="1837944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Draft a helpful reply without promising extra policy.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" y="440740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Why it works for this audience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8368" y="4754880"/>
            <a:ext cx="1261872" cy="301752"/>
          </a:xfrm>
          <a:prstGeom prst="rect">
            <a:avLst/>
          </a:prstGeom>
          <a:solidFill>
            <a:srgbClr val="EAF0FF"/>
          </a:solidFill>
          <a:ln>
            <a:solidFill>
              <a:srgbClr val="EA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Relevant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5093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Support and policy questions feel real.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754880"/>
            <a:ext cx="1170432" cy="301752"/>
          </a:xfrm>
          <a:prstGeom prst="rect">
            <a:avLst/>
          </a:prstGeom>
          <a:solidFill>
            <a:srgbClr val="D9F4FF"/>
          </a:solidFill>
          <a:ln>
            <a:solidFill>
              <a:srgbClr val="D9F4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Safe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35808" y="50932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Fictional data avoids institutional risk.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9824" y="4754880"/>
            <a:ext cx="1508760" cy="301752"/>
          </a:xfrm>
          <a:prstGeom prst="rect">
            <a:avLst/>
          </a:prstGeom>
          <a:solidFill>
            <a:srgbClr val="EEE7FF"/>
          </a:solidFill>
          <a:ln>
            <a:solidFill>
              <a:srgbClr val="EEE7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Teachable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77256" y="5093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Shows RAG, routing, and JSON together.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47888" y="4754880"/>
            <a:ext cx="1417320" cy="301752"/>
          </a:xfrm>
          <a:prstGeom prst="rect">
            <a:avLst/>
          </a:prstGeom>
          <a:solidFill>
            <a:srgbClr val="E8F7EE"/>
          </a:solidFill>
          <a:ln>
            <a:solidFill>
              <a:srgbClr val="E8F7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Extendable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509320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Easy to turn into a UI or evaluator later.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tracks for mixed-skill teams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Beginners modify; intermediates harden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5394960" cy="5029200"/>
          </a:xfrm>
          <a:prstGeom prst="roundRect">
            <a:avLst>
              <a:gd name="adj" fmla="val 2182"/>
            </a:avLst>
          </a:prstGeom>
          <a:solidFill>
            <a:srgbClr val="F8FB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0" y="1463040"/>
            <a:ext cx="5349240" cy="5029200"/>
          </a:xfrm>
          <a:prstGeom prst="roundRect">
            <a:avLst>
              <a:gd name="adj" fmla="val 2182"/>
            </a:avLst>
          </a:prstGeom>
          <a:solidFill>
            <a:srgbClr val="FBFAFF"/>
          </a:solidFill>
          <a:ln w="12700">
            <a:solidFill>
              <a:srgbClr val="E2DA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55648"/>
            <a:ext cx="1234440" cy="301752"/>
          </a:xfrm>
          <a:prstGeom prst="rect">
            <a:avLst/>
          </a:prstGeom>
          <a:solidFill>
            <a:srgbClr val="2457F5"/>
          </a:solidFill>
          <a:ln>
            <a:solidFill>
              <a:srgbClr val="2457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Beginner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755648"/>
            <a:ext cx="1481328" cy="3017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Intermediate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Goal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248716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Get comfortable with the workflow and see cause-and-effect between prompt and output.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3063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Tasks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3319272"/>
            <a:ext cx="246888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run scripts 01-03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change prompts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make JSON parse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answer one handbook question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inspect one case-study ticket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5138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Success signal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5778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57F5"/>
                </a:solidFill>
              </a:rPr>
              <a:t>“I can explain what changed and why.”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19088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Goal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088" y="248716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Improve reliability so the system is safer, more grounded, and easier to evaluate.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19088" y="3063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Tasks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55664" y="3319272"/>
            <a:ext cx="26060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compare two models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add validation or retries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cite chunk ids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improve escalation 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define a tiny gold 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9088" y="5138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Success signal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5664" y="5577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</a:rPr>
              <a:t>“I can defend one design decision with evidence.”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beats vibes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polished answer is the start of the conversation, not the end of 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72768"/>
            <a:ext cx="109728" cy="1965960"/>
          </a:xfrm>
          <a:prstGeom prst="rect">
            <a:avLst/>
          </a:prstGeom>
          <a:solidFill>
            <a:srgbClr val="2457F5"/>
          </a:solidFill>
          <a:ln w="12700">
            <a:solidFill>
              <a:srgbClr val="245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Faithful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2203704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Did the answer actually use the handbook, or did it improvise policy?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1572768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572768"/>
            <a:ext cx="109728" cy="1965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173736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Useful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22192" y="2084832"/>
            <a:ext cx="2203704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Would a student know the next step after reading the reply?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73952" y="1572768"/>
            <a:ext cx="26060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1572768"/>
            <a:ext cx="109728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9984" y="1737360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Safe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9984" y="2084832"/>
            <a:ext cx="2203704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Did the system escalate high-risk cases instead of pretending certainty?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81744" y="1572768"/>
            <a:ext cx="2148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81744" y="1572768"/>
            <a:ext cx="109728" cy="1965960"/>
          </a:xfrm>
          <a:prstGeom prst="rect">
            <a:avLst/>
          </a:prstGeom>
          <a:solidFill>
            <a:srgbClr val="17B26A"/>
          </a:solidFill>
          <a:ln w="12700">
            <a:solidFill>
              <a:srgbClr val="17B2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7776" y="1737360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Parseable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37776" y="2084832"/>
            <a:ext cx="1746504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Can your Python code trust the output format?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" y="3950208"/>
            <a:ext cx="1086307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245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</a:rPr>
              <a:t>Simple team ritual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</a:rPr>
              <a:t>Pick 2 tickets. Read the retrieved chunk out loud. Then ask: if we removed the context, would the answer still sound equally convincing? If yes, your system may be bluffing.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321808"/>
            <a:ext cx="1417320" cy="301752"/>
          </a:xfrm>
          <a:prstGeom prst="rect">
            <a:avLst/>
          </a:prstGeom>
          <a:solidFill>
            <a:srgbClr val="EAF0FF"/>
          </a:solidFill>
          <a:ln>
            <a:solidFill>
              <a:srgbClr val="EAF0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show the chunk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87168" y="5321808"/>
            <a:ext cx="1554480" cy="301752"/>
          </a:xfrm>
          <a:prstGeom prst="rect">
            <a:avLst/>
          </a:prstGeom>
          <a:solidFill>
            <a:srgbClr val="D9F4FF"/>
          </a:solidFill>
          <a:ln>
            <a:solidFill>
              <a:srgbClr val="D9F4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read the reply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24528" y="5321808"/>
            <a:ext cx="2011680" cy="301752"/>
          </a:xfrm>
          <a:prstGeom prst="rect">
            <a:avLst/>
          </a:prstGeom>
          <a:solidFill>
            <a:srgbClr val="EEE7FF"/>
          </a:solidFill>
          <a:ln>
            <a:solidFill>
              <a:srgbClr val="EEE7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challenge the grounding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5321808"/>
            <a:ext cx="1783080" cy="301752"/>
          </a:xfrm>
          <a:prstGeom prst="rect">
            <a:avLst/>
          </a:prstGeom>
          <a:solidFill>
            <a:srgbClr val="E8F7EE"/>
          </a:solidFill>
          <a:ln>
            <a:solidFill>
              <a:srgbClr val="E8F7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improve the prompt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41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9BCDD"/>
                </a:solidFill>
              </a:rPr>
              <a:t>After this session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strong follow-on builds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49808" y="20116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11680"/>
            <a:ext cx="109728" cy="2057400"/>
          </a:xfrm>
          <a:prstGeom prst="rect">
            <a:avLst/>
          </a:prstGeom>
          <a:solidFill>
            <a:srgbClr val="2457F5"/>
          </a:solidFill>
          <a:ln w="12700">
            <a:solidFill>
              <a:srgbClr val="245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7627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Study assistant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23744"/>
            <a:ext cx="3072384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Take a syllabus, notes, or lecture transcript and answer questions from the source material.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2011680"/>
            <a:ext cx="109728" cy="2057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17627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Resume / portfolio helper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523744"/>
            <a:ext cx="3072384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Extract achievements, rewrite bullets, and generate tailored cover-letter drafts.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2011680"/>
            <a:ext cx="349300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1EE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55280" y="2011680"/>
            <a:ext cx="109728" cy="2057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21762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Operations copilot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11312" y="2523744"/>
            <a:ext cx="3090672" cy="1435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</a:rPr>
              <a:t>Classify inbound issues, route work, and draft grounded responses with escalation rules.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68096" y="47091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DD"/>
                </a:solidFill>
              </a:rPr>
              <a:t>Message to leave them with: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" y="5074920"/>
            <a:ext cx="74980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“The jump from prompt toy to useful system comes from structure, context, and evaluation.”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8096" y="5797296"/>
            <a:ext cx="1115568" cy="301752"/>
          </a:xfrm>
          <a:prstGeom prst="rect">
            <a:avLst/>
          </a:prstGeom>
          <a:solidFill>
            <a:srgbClr val="2457F5"/>
          </a:solidFill>
          <a:ln>
            <a:solidFill>
              <a:srgbClr val="2457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Prompt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5797296"/>
            <a:ext cx="1207008" cy="301752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5797296"/>
            <a:ext cx="1353312" cy="301752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26880" y="4251960"/>
            <a:ext cx="2057400" cy="2057400"/>
          </a:xfrm>
          <a:prstGeom prst="arc">
            <a:avLst/>
          </a:prstGeom>
          <a:solidFill>
            <a:srgbClr val="0B1F3A">
              <a:alpha val="0"/>
            </a:srgbClr>
          </a:solidFill>
          <a:ln w="12700">
            <a:solidFill>
              <a:srgbClr val="2F6BFF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55480" y="4480560"/>
            <a:ext cx="1600200" cy="1600200"/>
          </a:xfrm>
          <a:prstGeom prst="arc">
            <a:avLst/>
          </a:prstGeom>
          <a:solidFill>
            <a:srgbClr val="0B1F3A">
              <a:alpha val="0"/>
            </a:srgbClr>
          </a:solidFill>
          <a:ln w="12700">
            <a:solidFill>
              <a:srgbClr val="18B7FF">
                <a:alpha val="7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11512" y="4736592"/>
            <a:ext cx="1097280" cy="1097280"/>
          </a:xfrm>
          <a:prstGeom prst="arc">
            <a:avLst/>
          </a:prstGeom>
          <a:solidFill>
            <a:srgbClr val="0B1F3A">
              <a:alpha val="0"/>
            </a:srgbClr>
          </a:solidFill>
          <a:ln w="12700">
            <a:solidFill>
              <a:srgbClr val="9D7CFF">
                <a:alpha val="82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Harnessing LLMs with Python</dc:title>
  <dc:subject>Harnessing LLMs with Python workshop</dc:subject>
  <dc:creator>OpenAI</dc:creator>
  <cp:lastModifiedBy>OpenAI</cp:lastModifiedBy>
  <cp:revision>1</cp:revision>
  <dcterms:created xsi:type="dcterms:W3CDTF">2026-03-28T18:06:25Z</dcterms:created>
  <dcterms:modified xsi:type="dcterms:W3CDTF">2026-03-28T18:06:25Z</dcterms:modified>
</cp:coreProperties>
</file>